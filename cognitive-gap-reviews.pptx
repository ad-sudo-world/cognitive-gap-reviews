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C5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74" d="100"/>
          <a:sy n="74" d="100"/>
        </p:scale>
        <p:origin x="200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11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>
      <cs:styleClr val="0"/>
    </cs:lnRef>
    <cs:fillRef idx="0"/>
    <cs:effectRef idx="0"/>
    <cs:fontRef idx="minor">
      <cs:styleClr val="0"/>
    </cs:fontRef>
    <cs:defRPr sz="1197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5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9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7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17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9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8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6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69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2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93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5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80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59A1EF-3270-9015-B4F7-A23B707B4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EDBC68-C7EB-3988-22E9-101513D1084D}"/>
              </a:ext>
            </a:extLst>
          </p:cNvPr>
          <p:cNvSpPr/>
          <p:nvPr/>
        </p:nvSpPr>
        <p:spPr>
          <a:xfrm>
            <a:off x="0" y="2119327"/>
            <a:ext cx="9101470" cy="1723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8CCF4A-BF19-C4F6-C68F-7D8FE7C55C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44035" y="2196329"/>
            <a:ext cx="86133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ВЫЯВЛЕНИЕ КОГНИТИВНОГО РАЗРЫВА В ОТЗЫВАХ:</a:t>
            </a:r>
            <a:endParaRPr kumimoji="0" lang="ru-RU" altLang="ru-RU" sz="6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9C80-F8CF-0D4E-4996-1B7DCE439638}"/>
              </a:ext>
            </a:extLst>
          </p:cNvPr>
          <p:cNvSpPr txBox="1"/>
          <p:nvPr/>
        </p:nvSpPr>
        <p:spPr>
          <a:xfrm>
            <a:off x="164757" y="3842991"/>
            <a:ext cx="9736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+mj-lt"/>
              </a:rPr>
              <a:t>от классификации к анализу противоречий </a:t>
            </a:r>
          </a:p>
        </p:txBody>
      </p:sp>
    </p:spTree>
    <p:extLst>
      <p:ext uri="{BB962C8B-B14F-4D97-AF65-F5344CB8AC3E}">
        <p14:creationId xmlns:p14="http://schemas.microsoft.com/office/powerpoint/2010/main" val="377679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11287AA-0F05-A3F3-6CD3-6EEF76554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0000" y="1136137"/>
            <a:ext cx="8740400" cy="2077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Разработать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ml-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модель для прогнозирования рейтинга и выявления когнитивного разрыва между текстом отзыва и оценкой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BFC70E4-2C8E-502A-DE4D-39064CD8C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00" y="102599"/>
            <a:ext cx="1572546" cy="1246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rtlCol="0" anchor="ctr" anchorCtr="0" compatLnSpc="1">
            <a:prstTxWarp prst="textNoShape">
              <a:avLst/>
            </a:prstTxWarp>
            <a:sp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b="1" kern="1200" cap="none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defTabSz="914400" eaLnBrk="0" fontAlgn="base" hangingPunct="0">
              <a:spcAft>
                <a:spcPct val="0"/>
              </a:spcAft>
            </a:pPr>
            <a:endParaRPr lang="ru-RU" altLang="ru-RU" sz="1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914400" eaLnBrk="0" fontAlgn="base" hangingPunct="0">
              <a:spcAft>
                <a:spcPct val="0"/>
              </a:spcAft>
            </a:pPr>
            <a:r>
              <a:rPr lang="ru-RU" altLang="ru-RU" b="0" dirty="0">
                <a:solidFill>
                  <a:schemeClr val="tx1"/>
                </a:solidFill>
              </a:rPr>
              <a:t>ЦЕЛЬ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BB6CB-B7DE-187E-D053-4EF24CEDFD47}"/>
              </a:ext>
            </a:extLst>
          </p:cNvPr>
          <p:cNvSpPr txBox="1"/>
          <p:nvPr/>
        </p:nvSpPr>
        <p:spPr>
          <a:xfrm>
            <a:off x="754213" y="3040083"/>
            <a:ext cx="1447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800" b="1" dirty="0">
                <a:solidFill>
                  <a:srgbClr val="EE3C5F"/>
                </a:solidFill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334E6-F5CD-173E-4A10-33FCC4C32DA4}"/>
              </a:ext>
            </a:extLst>
          </p:cNvPr>
          <p:cNvSpPr txBox="1"/>
          <p:nvPr/>
        </p:nvSpPr>
        <p:spPr>
          <a:xfrm>
            <a:off x="7371413" y="3033117"/>
            <a:ext cx="1447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800" b="1" dirty="0">
                <a:solidFill>
                  <a:srgbClr val="EE3C5F"/>
                </a:solidFill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F4E36-E9FD-491E-C134-8AA938823547}"/>
              </a:ext>
            </a:extLst>
          </p:cNvPr>
          <p:cNvSpPr txBox="1"/>
          <p:nvPr/>
        </p:nvSpPr>
        <p:spPr>
          <a:xfrm>
            <a:off x="754213" y="4493047"/>
            <a:ext cx="1447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800" b="1" dirty="0">
                <a:solidFill>
                  <a:srgbClr val="EE3C5F"/>
                </a:solidFill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985D7-0506-F6F2-D70A-A7DB3BE237B0}"/>
              </a:ext>
            </a:extLst>
          </p:cNvPr>
          <p:cNvSpPr txBox="1"/>
          <p:nvPr/>
        </p:nvSpPr>
        <p:spPr>
          <a:xfrm>
            <a:off x="7386900" y="4530351"/>
            <a:ext cx="1447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800" b="1" dirty="0">
                <a:solidFill>
                  <a:srgbClr val="EE3C5F"/>
                </a:solidFill>
              </a:rPr>
              <a:t>04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7E997940-D483-5545-E342-810C0D2E7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897" y="3822158"/>
            <a:ext cx="365969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u="none" strike="noStrike" cap="none" normalizeH="0" baseline="0" dirty="0">
                <a:ln>
                  <a:noFill/>
                </a:ln>
                <a:effectLst/>
              </a:rPr>
              <a:t>Сбор и предобработка данных 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AFDF0CE8-942C-A3DD-D463-CC0834568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92" y="5349258"/>
            <a:ext cx="4010589" cy="92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</a:rPr>
              <a:t>Построение и сравнение 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6D615009-0FCC-79DE-ECA2-538A5EB0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3645" y="3822158"/>
            <a:ext cx="32535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</a:rPr>
              <a:t>Векторизация текста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D535B618-3531-0F2C-020F-9C6BE2629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287" y="5253626"/>
            <a:ext cx="37340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</a:rPr>
              <a:t>Анализ когнитивного разрыва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6A0EB5CF-6778-C34B-0DA0-70EC8847281D}"/>
              </a:ext>
            </a:extLst>
          </p:cNvPr>
          <p:cNvCxnSpPr>
            <a:cxnSpLocks/>
          </p:cNvCxnSpPr>
          <p:nvPr/>
        </p:nvCxnSpPr>
        <p:spPr>
          <a:xfrm>
            <a:off x="399561" y="509024"/>
            <a:ext cx="0" cy="2375417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09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D8E924-C5E4-C369-ADDF-CBF83EE8EF25}"/>
              </a:ext>
            </a:extLst>
          </p:cNvPr>
          <p:cNvSpPr/>
          <p:nvPr/>
        </p:nvSpPr>
        <p:spPr>
          <a:xfrm>
            <a:off x="0" y="1898073"/>
            <a:ext cx="2992582" cy="4959927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0C41E2-6D0F-2FF7-692E-62B756754BD4}"/>
              </a:ext>
            </a:extLst>
          </p:cNvPr>
          <p:cNvSpPr/>
          <p:nvPr/>
        </p:nvSpPr>
        <p:spPr>
          <a:xfrm>
            <a:off x="2992582" y="1898073"/>
            <a:ext cx="3103418" cy="4959927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B1E2EB-C271-CDDC-5104-8371D85A62E9}"/>
              </a:ext>
            </a:extLst>
          </p:cNvPr>
          <p:cNvSpPr/>
          <p:nvPr/>
        </p:nvSpPr>
        <p:spPr>
          <a:xfrm>
            <a:off x="6096000" y="1898071"/>
            <a:ext cx="3103418" cy="4959927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0D1C970-8E80-F42B-2825-164DAC09800C}"/>
              </a:ext>
            </a:extLst>
          </p:cNvPr>
          <p:cNvSpPr/>
          <p:nvPr/>
        </p:nvSpPr>
        <p:spPr>
          <a:xfrm>
            <a:off x="9199418" y="1898073"/>
            <a:ext cx="2992582" cy="4959927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D129A27-A920-A691-DDC4-51EEDD9AEDF2}"/>
              </a:ext>
            </a:extLst>
          </p:cNvPr>
          <p:cNvSpPr/>
          <p:nvPr/>
        </p:nvSpPr>
        <p:spPr>
          <a:xfrm>
            <a:off x="274897" y="-1"/>
            <a:ext cx="11917103" cy="18980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17EF90-9EF2-B878-A518-36567880A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9793" y="656645"/>
            <a:ext cx="116422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СБОР ДАННЫХ: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РЕЗУЛЬТАТ В ЦИФРАХ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67EB2-4E38-A641-AB27-E8DD7FBBAEAE}"/>
              </a:ext>
            </a:extLst>
          </p:cNvPr>
          <p:cNvSpPr txBox="1"/>
          <p:nvPr/>
        </p:nvSpPr>
        <p:spPr>
          <a:xfrm>
            <a:off x="6861276" y="2541253"/>
            <a:ext cx="1572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+mj-lt"/>
              </a:rPr>
              <a:t>61к+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D533010-1D73-8DE8-BC24-C3BD9676A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9" y="4323206"/>
            <a:ext cx="21408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полный объем данных на момент парсинга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97097-27A3-5435-89EC-DC5F96D1CB14}"/>
              </a:ext>
            </a:extLst>
          </p:cNvPr>
          <p:cNvSpPr txBox="1"/>
          <p:nvPr/>
        </p:nvSpPr>
        <p:spPr>
          <a:xfrm>
            <a:off x="6923793" y="3489118"/>
            <a:ext cx="1447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отзывов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93597B09-5FC2-01FC-02A3-A33E3053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894" y="2541254"/>
            <a:ext cx="8739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18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DAE3F-C76E-DAE9-0DCE-049CD4C105BD}"/>
              </a:ext>
            </a:extLst>
          </p:cNvPr>
          <p:cNvSpPr txBox="1"/>
          <p:nvPr/>
        </p:nvSpPr>
        <p:spPr>
          <a:xfrm>
            <a:off x="9515429" y="2567833"/>
            <a:ext cx="22557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+mj-lt"/>
              </a:rPr>
              <a:t>1+ млн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D530336-0463-199C-7DCB-6FA18EC09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428" y="2541252"/>
            <a:ext cx="5293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4800" b="1" dirty="0">
                <a:latin typeface="+mj-lt"/>
              </a:rPr>
              <a:t>0</a:t>
            </a:r>
            <a:endParaRPr kumimoji="0" lang="ru-RU" altLang="ru-RU" sz="4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69D2348-0661-7D27-207E-D2F22F2FF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333" y="3302999"/>
            <a:ext cx="22440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b="1" dirty="0">
                <a:solidFill>
                  <a:schemeClr val="bg1"/>
                </a:solidFill>
              </a:rPr>
              <a:t>т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оваров без рейтинга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B088E2F9-77D4-C8EE-26EE-DF2C056AF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492" y="3485751"/>
            <a:ext cx="9124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b="1" dirty="0">
                <a:solidFill>
                  <a:schemeClr val="bg1"/>
                </a:solidFill>
              </a:rPr>
              <a:t>с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лов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ED9070DD-225A-68B9-7662-1F37A1C0D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817" y="3489118"/>
            <a:ext cx="18101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b="1" dirty="0">
                <a:solidFill>
                  <a:schemeClr val="bg1"/>
                </a:solidFill>
              </a:rPr>
              <a:t>п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ризнаков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99D9F07D-6062-EB6B-0D6F-4E46B050E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928" y="4318840"/>
            <a:ext cx="18843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/>
              <a:t>к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аждый товар имеет по крайней мере 1 отзыв</a:t>
            </a:r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1BDE1873-1D20-1A89-3DDE-0FAAEEA0D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210" y="4472729"/>
            <a:ext cx="28213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/>
              <a:t>подвергнутых тематическим группировкам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0D080064-E82B-1E98-33E7-1919BB1A9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5882" y="4133996"/>
            <a:ext cx="256634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latin typeface="+mn-lt"/>
              </a:rPr>
              <a:t>э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квивалент 4 романов «Война и мир»</a:t>
            </a:r>
            <a:r>
              <a:rPr lang="ru-RU" altLang="ru-RU" sz="2000" dirty="0">
                <a:latin typeface="+mn-lt"/>
              </a:rPr>
              <a:t>. О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бъем, который </a:t>
            </a:r>
            <a:r>
              <a:rPr kumimoji="0" lang="en-US" altLang="ru-RU" sz="200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ml-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модель проанализирует за несколько секунд</a:t>
            </a:r>
          </a:p>
        </p:txBody>
      </p:sp>
    </p:spTree>
    <p:extLst>
      <p:ext uri="{BB962C8B-B14F-4D97-AF65-F5344CB8AC3E}">
        <p14:creationId xmlns:p14="http://schemas.microsoft.com/office/powerpoint/2010/main" val="163844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C8C45-0E64-137D-1171-6BB36BB0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0C6CC1-E02C-016B-CB34-045D2C915B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05369-662C-A676-B127-247BFE211C46}"/>
              </a:ext>
            </a:extLst>
          </p:cNvPr>
          <p:cNvSpPr txBox="1"/>
          <p:nvPr/>
        </p:nvSpPr>
        <p:spPr>
          <a:xfrm>
            <a:off x="3253944" y="414900"/>
            <a:ext cx="5747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КОРЕЛЯЦИОННЫЙ АНАЛИЗ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852B1B2-D479-145C-BEE9-1CB6532A3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060C131-25CC-4C85-ECF2-00113233E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00" y="1402227"/>
            <a:ext cx="5317487" cy="170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0F1115"/>
                </a:solidFill>
              </a:rPr>
              <a:t>Анализ выявил незначительную корреляцию цены и рейтинга - </a:t>
            </a:r>
            <a:r>
              <a:rPr lang="ru-RU" altLang="ru-RU" sz="2000" dirty="0">
                <a:solidFill>
                  <a:srgbClr val="EE3C5F"/>
                </a:solidFill>
              </a:rPr>
              <a:t>цена не влияет на рейтинг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A19C0-7CEE-6293-162B-B8E930E78F8F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4DC05CA-5520-1D32-07F6-FD0745A8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809" y="1772361"/>
            <a:ext cx="5786809" cy="4267492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24114A82-96C1-CD12-CECD-E8307BFCCAC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8486" y="3116024"/>
            <a:ext cx="508870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Сильная связь между рейтингом товара и текстом отзыва.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lang="ru-RU" altLang="ru-RU" sz="2000" dirty="0">
                <a:solidFill>
                  <a:srgbClr val="0F1115"/>
                </a:solidFill>
              </a:rPr>
              <a:t>Д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лина текста отзыва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</a:rPr>
              <a:t>не влияет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на оценку.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F100D32-DFAE-4D0E-4677-73542F803AA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8486" y="4481765"/>
            <a:ext cx="508870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Для покупател</a:t>
            </a:r>
            <a:r>
              <a:rPr lang="ru-RU" altLang="ru-RU" sz="2000" dirty="0">
                <a:solidFill>
                  <a:srgbClr val="0F1115"/>
                </a:solidFill>
              </a:rPr>
              <a:t>я главным источником являются </a:t>
            </a:r>
            <a:r>
              <a:rPr lang="ru-RU" altLang="ru-RU" sz="2000" dirty="0">
                <a:solidFill>
                  <a:srgbClr val="212121"/>
                </a:solidFill>
              </a:rPr>
              <a:t>отзывы других покупателей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</a:endParaRP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D37F7BE-4242-0A87-7E81-CEE29A6426D5}"/>
              </a:ext>
            </a:extLst>
          </p:cNvPr>
          <p:cNvCxnSpPr>
            <a:cxnSpLocks/>
          </p:cNvCxnSpPr>
          <p:nvPr/>
        </p:nvCxnSpPr>
        <p:spPr>
          <a:xfrm>
            <a:off x="399561" y="1501245"/>
            <a:ext cx="0" cy="4245221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10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E894-3630-7065-B5D0-E5EA7B35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D6894-2A34-BFD2-81FB-BD55F444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B00701-5D11-2703-3729-26A3A2CAE9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99CDA-B9D6-DE16-F2F1-9A2021528BE9}"/>
              </a:ext>
            </a:extLst>
          </p:cNvPr>
          <p:cNvSpPr txBox="1"/>
          <p:nvPr/>
        </p:nvSpPr>
        <p:spPr>
          <a:xfrm>
            <a:off x="3062155" y="389709"/>
            <a:ext cx="6067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РАСПРЕДЕЛЕНИЕ РЕЙТИНГОВ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ED9C96-2524-B1AF-720A-B9376020C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8EE5E-2778-3130-7B9A-66FEF8905E63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C2353CA-597C-8B40-C9AE-CFBB0627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72" y="2192694"/>
            <a:ext cx="603043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86% отзывов из датасета  — положительные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Тестирование балансировки классов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+mn-lt"/>
              </a:rPr>
              <a:t>ухудшила качества на доминирующем классе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в тестовой выборке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solidFill>
                <a:srgbClr val="0F1115"/>
              </a:solidFill>
              <a:latin typeface="+mn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В рамках исследовательской задачи было принято решение 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+mn-lt"/>
              </a:rPr>
              <a:t>сохранить исходное распределение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4A24CF8-F54F-51A0-C897-19D05F547C40}"/>
              </a:ext>
            </a:extLst>
          </p:cNvPr>
          <p:cNvCxnSpPr>
            <a:cxnSpLocks/>
          </p:cNvCxnSpPr>
          <p:nvPr/>
        </p:nvCxnSpPr>
        <p:spPr>
          <a:xfrm>
            <a:off x="399561" y="1501245"/>
            <a:ext cx="0" cy="4245221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5E4F09F-F91D-A271-74FE-667ADA2D11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1"/>
          <a:stretch>
            <a:fillRect/>
          </a:stretch>
        </p:blipFill>
        <p:spPr>
          <a:xfrm>
            <a:off x="8245221" y="1347574"/>
            <a:ext cx="3415665" cy="220375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B2977A5-714F-C2C7-9806-BA57517DF6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1" r="5184"/>
          <a:stretch>
            <a:fillRect/>
          </a:stretch>
        </p:blipFill>
        <p:spPr>
          <a:xfrm>
            <a:off x="8243689" y="3744230"/>
            <a:ext cx="3315368" cy="23082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F8C5B4-CB19-1A21-8418-D77D8CB27690}"/>
              </a:ext>
            </a:extLst>
          </p:cNvPr>
          <p:cNvSpPr txBox="1"/>
          <p:nvPr/>
        </p:nvSpPr>
        <p:spPr>
          <a:xfrm>
            <a:off x="8761195" y="3365271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EE3C5F"/>
                </a:solidFill>
              </a:rPr>
              <a:t>Без</a:t>
            </a:r>
            <a:r>
              <a:rPr lang="ru-RU" dirty="0">
                <a:solidFill>
                  <a:srgbClr val="EE3C5F"/>
                </a:solidFill>
              </a:rPr>
              <a:t> балансировки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756B3C-A218-BBCD-C77F-40FB426984FF}"/>
              </a:ext>
            </a:extLst>
          </p:cNvPr>
          <p:cNvSpPr txBox="1"/>
          <p:nvPr/>
        </p:nvSpPr>
        <p:spPr>
          <a:xfrm>
            <a:off x="8733142" y="5850098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EE3C5F"/>
                </a:solidFill>
              </a:rPr>
              <a:t>С</a:t>
            </a:r>
            <a:r>
              <a:rPr lang="ru-RU" dirty="0">
                <a:solidFill>
                  <a:srgbClr val="EE3C5F"/>
                </a:solidFill>
              </a:rPr>
              <a:t> балансировкой</a:t>
            </a:r>
            <a:r>
              <a:rPr lang="en-US" dirty="0">
                <a:solidFill>
                  <a:srgbClr val="EE3C5F"/>
                </a:solidFill>
              </a:rPr>
              <a:t>*</a:t>
            </a:r>
            <a:endParaRPr lang="ru-RU" dirty="0">
              <a:solidFill>
                <a:srgbClr val="EE3C5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8B9E47-96BF-004C-3C15-5FEF0A3D44BF}"/>
              </a:ext>
            </a:extLst>
          </p:cNvPr>
          <p:cNvSpPr txBox="1"/>
          <p:nvPr/>
        </p:nvSpPr>
        <p:spPr>
          <a:xfrm>
            <a:off x="8070562" y="6458449"/>
            <a:ext cx="4299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EE3C5F"/>
                </a:solidFill>
              </a:rPr>
              <a:t>*</a:t>
            </a:r>
            <a:r>
              <a:rPr lang="ru-RU" sz="1400" dirty="0">
                <a:solidFill>
                  <a:srgbClr val="EE3C5F"/>
                </a:solidFill>
              </a:rPr>
              <a:t>наименьшее ухудшение из балансировки</a:t>
            </a:r>
          </a:p>
        </p:txBody>
      </p:sp>
    </p:spTree>
    <p:extLst>
      <p:ext uri="{BB962C8B-B14F-4D97-AF65-F5344CB8AC3E}">
        <p14:creationId xmlns:p14="http://schemas.microsoft.com/office/powerpoint/2010/main" val="371592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D8D28-6435-9A89-50B4-10B820C8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445E7-B2EF-1EC7-4193-41F65819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57F800-7A23-638B-5D7E-68B1823A3B89}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0C9B2-98A9-52E2-0123-83E71BCA01F0}"/>
              </a:ext>
            </a:extLst>
          </p:cNvPr>
          <p:cNvSpPr txBox="1"/>
          <p:nvPr/>
        </p:nvSpPr>
        <p:spPr>
          <a:xfrm>
            <a:off x="3470921" y="390012"/>
            <a:ext cx="5250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ПРЕДОБРАБОТКА ТЕКСТА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A9BAE8-B8C2-C078-2795-8863B5F73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C06A6-3046-3902-FCDF-041567A11B9A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2FAE1E0-19B9-E0B3-2ECF-4E72E017452A}"/>
              </a:ext>
            </a:extLst>
          </p:cNvPr>
          <p:cNvCxnSpPr>
            <a:cxnSpLocks/>
          </p:cNvCxnSpPr>
          <p:nvPr/>
        </p:nvCxnSpPr>
        <p:spPr>
          <a:xfrm flipH="1">
            <a:off x="0" y="4076700"/>
            <a:ext cx="9230276" cy="0"/>
          </a:xfrm>
          <a:prstGeom prst="line">
            <a:avLst/>
          </a:prstGeom>
          <a:ln w="25400" cmpd="sng">
            <a:solidFill>
              <a:srgbClr val="EE3C5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3FFB4EC-E111-2CF8-97EA-8E629C71E2D2}"/>
              </a:ext>
            </a:extLst>
          </p:cNvPr>
          <p:cNvCxnSpPr>
            <a:cxnSpLocks/>
          </p:cNvCxnSpPr>
          <p:nvPr/>
        </p:nvCxnSpPr>
        <p:spPr>
          <a:xfrm flipV="1">
            <a:off x="1162050" y="3105150"/>
            <a:ext cx="0" cy="971550"/>
          </a:xfrm>
          <a:prstGeom prst="line">
            <a:avLst/>
          </a:prstGeom>
          <a:ln w="25400" cmpd="sng">
            <a:solidFill>
              <a:srgbClr val="EE3C5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1DEDA4-430D-73A1-1B8B-61A8A254AC28}"/>
              </a:ext>
            </a:extLst>
          </p:cNvPr>
          <p:cNvCxnSpPr>
            <a:cxnSpLocks/>
          </p:cNvCxnSpPr>
          <p:nvPr/>
        </p:nvCxnSpPr>
        <p:spPr>
          <a:xfrm flipV="1">
            <a:off x="4322925" y="4116719"/>
            <a:ext cx="0" cy="788263"/>
          </a:xfrm>
          <a:prstGeom prst="line">
            <a:avLst/>
          </a:prstGeom>
          <a:ln w="25400" cmpd="sng">
            <a:solidFill>
              <a:srgbClr val="EE3C5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>
            <a:extLst>
              <a:ext uri="{FF2B5EF4-FFF2-40B4-BE49-F238E27FC236}">
                <a16:creationId xmlns:a16="http://schemas.microsoft.com/office/drawing/2014/main" id="{E02AD994-B3DD-2ECE-D6D2-8EE285D3AADC}"/>
              </a:ext>
            </a:extLst>
          </p:cNvPr>
          <p:cNvSpPr/>
          <p:nvPr/>
        </p:nvSpPr>
        <p:spPr>
          <a:xfrm>
            <a:off x="352050" y="1450511"/>
            <a:ext cx="1620000" cy="1620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 cmpd="dbl">
            <a:solidFill>
              <a:srgbClr val="EE3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35BB022-0542-7434-D545-6648C2A034DF}"/>
              </a:ext>
            </a:extLst>
          </p:cNvPr>
          <p:cNvSpPr/>
          <p:nvPr/>
        </p:nvSpPr>
        <p:spPr>
          <a:xfrm>
            <a:off x="447527" y="1541394"/>
            <a:ext cx="1440000" cy="14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4C3F505C-03B8-897F-EA10-023C0C97823B}"/>
              </a:ext>
            </a:extLst>
          </p:cNvPr>
          <p:cNvSpPr/>
          <p:nvPr/>
        </p:nvSpPr>
        <p:spPr>
          <a:xfrm>
            <a:off x="3512925" y="4958250"/>
            <a:ext cx="1620000" cy="1620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 cmpd="dbl">
            <a:solidFill>
              <a:srgbClr val="EE3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33A2F96-9E94-F002-02A0-BD04347A6E9E}"/>
              </a:ext>
            </a:extLst>
          </p:cNvPr>
          <p:cNvSpPr/>
          <p:nvPr/>
        </p:nvSpPr>
        <p:spPr>
          <a:xfrm>
            <a:off x="3602925" y="5048251"/>
            <a:ext cx="1440000" cy="14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Треугольник 30">
            <a:extLst>
              <a:ext uri="{FF2B5EF4-FFF2-40B4-BE49-F238E27FC236}">
                <a16:creationId xmlns:a16="http://schemas.microsoft.com/office/drawing/2014/main" id="{1B706C54-AEDB-FCD8-D8CD-1B8ECDEDBA9A}"/>
              </a:ext>
            </a:extLst>
          </p:cNvPr>
          <p:cNvSpPr/>
          <p:nvPr/>
        </p:nvSpPr>
        <p:spPr>
          <a:xfrm rot="5400000">
            <a:off x="2022746" y="2092069"/>
            <a:ext cx="602708" cy="336884"/>
          </a:xfrm>
          <a:prstGeom prst="triangle">
            <a:avLst/>
          </a:prstGeom>
          <a:noFill/>
          <a:ln cmpd="dbl">
            <a:solidFill>
              <a:srgbClr val="EE3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Треугольник 31">
            <a:extLst>
              <a:ext uri="{FF2B5EF4-FFF2-40B4-BE49-F238E27FC236}">
                <a16:creationId xmlns:a16="http://schemas.microsoft.com/office/drawing/2014/main" id="{E356FA85-3F82-62CF-985E-42D845C39384}"/>
              </a:ext>
            </a:extLst>
          </p:cNvPr>
          <p:cNvSpPr/>
          <p:nvPr/>
        </p:nvSpPr>
        <p:spPr>
          <a:xfrm rot="5400000">
            <a:off x="5198214" y="5599808"/>
            <a:ext cx="602708" cy="336884"/>
          </a:xfrm>
          <a:prstGeom prst="triangle">
            <a:avLst/>
          </a:prstGeom>
          <a:noFill/>
          <a:ln cmpd="dbl">
            <a:solidFill>
              <a:srgbClr val="EE3C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EE50C0-0ED8-2972-413E-2E928BBBAAE2}"/>
              </a:ext>
            </a:extLst>
          </p:cNvPr>
          <p:cNvSpPr txBox="1"/>
          <p:nvPr/>
        </p:nvSpPr>
        <p:spPr>
          <a:xfrm>
            <a:off x="465455" y="1924497"/>
            <a:ext cx="1404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clean &amp;</a:t>
            </a:r>
          </a:p>
          <a:p>
            <a:pPr algn="ctr"/>
            <a:r>
              <a:rPr lang="en-US" sz="2000" dirty="0"/>
              <a:t>tokenize</a:t>
            </a:r>
            <a:endParaRPr lang="ru-RU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8BC697-949B-48D8-1CC4-C14BBDA4DF9F}"/>
              </a:ext>
            </a:extLst>
          </p:cNvPr>
          <p:cNvSpPr txBox="1"/>
          <p:nvPr/>
        </p:nvSpPr>
        <p:spPr>
          <a:xfrm>
            <a:off x="2676150" y="1689832"/>
            <a:ext cx="45461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dirty="0">
                <a:solidFill>
                  <a:schemeClr val="bg1"/>
                </a:solidFill>
              </a:rPr>
              <a:t>Works as it claims. Could see the difference from the first day. Use it with Olay cleanser for best results 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CBD7A3-EA93-75D4-74A3-1A2069FC46BB}"/>
              </a:ext>
            </a:extLst>
          </p:cNvPr>
          <p:cNvSpPr txBox="1"/>
          <p:nvPr/>
        </p:nvSpPr>
        <p:spPr>
          <a:xfrm>
            <a:off x="2657516" y="2984861"/>
            <a:ext cx="3730551" cy="1055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000" b="0" i="0" dirty="0">
                <a:solidFill>
                  <a:schemeClr val="bg1"/>
                </a:solidFill>
                <a:effectLst/>
              </a:rPr>
              <a:t>work claim could see difference first day use </a:t>
            </a:r>
            <a:r>
              <a:rPr lang="en" sz="2000" b="0" i="0" dirty="0" err="1">
                <a:solidFill>
                  <a:schemeClr val="bg1"/>
                </a:solidFill>
                <a:effectLst/>
              </a:rPr>
              <a:t>olay</a:t>
            </a:r>
            <a:r>
              <a:rPr lang="en" sz="2000" b="0" i="0" dirty="0">
                <a:solidFill>
                  <a:schemeClr val="bg1"/>
                </a:solidFill>
                <a:effectLst/>
              </a:rPr>
              <a:t> cleanser best result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0632B6-CFC1-E314-58A1-BC1B896B243A}"/>
              </a:ext>
            </a:extLst>
          </p:cNvPr>
          <p:cNvSpPr txBox="1"/>
          <p:nvPr/>
        </p:nvSpPr>
        <p:spPr>
          <a:xfrm>
            <a:off x="3723251" y="5568195"/>
            <a:ext cx="118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visualize</a:t>
            </a:r>
            <a:endParaRPr lang="ru-RU" sz="2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540527-CA83-1FEE-A314-70F7E365CE75}"/>
              </a:ext>
            </a:extLst>
          </p:cNvPr>
          <p:cNvSpPr txBox="1"/>
          <p:nvPr/>
        </p:nvSpPr>
        <p:spPr>
          <a:xfrm>
            <a:off x="5866211" y="5329948"/>
            <a:ext cx="3016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solidFill>
                  <a:srgbClr val="212121"/>
                </a:solidFill>
              </a:rPr>
              <a:t>лемматизации</a:t>
            </a:r>
            <a:r>
              <a:rPr lang="ru-RU" sz="2000" dirty="0">
                <a:solidFill>
                  <a:srgbClr val="212121"/>
                </a:solidFill>
              </a:rPr>
              <a:t> </a:t>
            </a:r>
            <a:r>
              <a:rPr lang="en-US" sz="2000" dirty="0">
                <a:solidFill>
                  <a:srgbClr val="212121"/>
                </a:solidFill>
              </a:rPr>
              <a:t>&amp; </a:t>
            </a:r>
            <a:r>
              <a:rPr lang="ru-RU" sz="2000" dirty="0">
                <a:solidFill>
                  <a:srgbClr val="212121"/>
                </a:solidFill>
              </a:rPr>
              <a:t>векторизации (</a:t>
            </a:r>
            <a:r>
              <a:rPr lang="en-US" sz="2000" dirty="0">
                <a:solidFill>
                  <a:srgbClr val="212121"/>
                </a:solidFill>
              </a:rPr>
              <a:t>TF-IDF)</a:t>
            </a:r>
            <a:endParaRPr lang="ru-RU" sz="2000" dirty="0">
              <a:solidFill>
                <a:srgbClr val="212121"/>
              </a:solidFill>
            </a:endParaRP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E5A7036-0660-C6EA-6301-BEED8713C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209"/>
          <a:stretch>
            <a:fillRect/>
          </a:stretch>
        </p:blipFill>
        <p:spPr>
          <a:xfrm>
            <a:off x="9137930" y="16140"/>
            <a:ext cx="3054070" cy="3653571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0628833-377E-2E1E-B14D-6212F7B82D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010" r="20146"/>
          <a:stretch>
            <a:fillRect/>
          </a:stretch>
        </p:blipFill>
        <p:spPr>
          <a:xfrm>
            <a:off x="9230276" y="3081333"/>
            <a:ext cx="2961723" cy="376052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3AE4C6C4-5ED7-D0C2-E2D5-D089633BFE58}"/>
              </a:ext>
            </a:extLst>
          </p:cNvPr>
          <p:cNvSpPr txBox="1"/>
          <p:nvPr/>
        </p:nvSpPr>
        <p:spPr>
          <a:xfrm>
            <a:off x="2650772" y="139225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EE3C5F"/>
                </a:solidFill>
              </a:rPr>
              <a:t>ДО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DC508C-A479-E672-85E0-812F5E7FB392}"/>
              </a:ext>
            </a:extLst>
          </p:cNvPr>
          <p:cNvSpPr txBox="1"/>
          <p:nvPr/>
        </p:nvSpPr>
        <p:spPr>
          <a:xfrm>
            <a:off x="2676150" y="2733132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EE3C5F"/>
                </a:solidFill>
              </a:rPr>
              <a:t>ПОСЛЕ</a:t>
            </a:r>
          </a:p>
        </p:txBody>
      </p:sp>
    </p:spTree>
    <p:extLst>
      <p:ext uri="{BB962C8B-B14F-4D97-AF65-F5344CB8AC3E}">
        <p14:creationId xmlns:p14="http://schemas.microsoft.com/office/powerpoint/2010/main" val="427967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CE3D-886F-D0EA-8B95-41D9C9D5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5F92C-CB88-E9A3-DEB1-E53F4F41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FDD117-B2C2-F3F2-7FC4-17400897AD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CA5C1-D978-B7D1-C8E6-330D990CC93A}"/>
              </a:ext>
            </a:extLst>
          </p:cNvPr>
          <p:cNvSpPr txBox="1"/>
          <p:nvPr/>
        </p:nvSpPr>
        <p:spPr>
          <a:xfrm>
            <a:off x="512402" y="392379"/>
            <a:ext cx="10739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12121"/>
                </a:solidFill>
                <a:latin typeface="+mj-lt"/>
              </a:rPr>
              <a:t>C</a:t>
            </a:r>
            <a:r>
              <a:rPr lang="ru-RU" sz="3200" dirty="0">
                <a:solidFill>
                  <a:srgbClr val="212121"/>
                </a:solidFill>
                <a:latin typeface="+mj-lt"/>
              </a:rPr>
              <a:t>РАВНЕНИЕ МОДЕЛЕЙ В </a:t>
            </a:r>
            <a:r>
              <a:rPr lang="ru-RU" sz="3200" dirty="0">
                <a:solidFill>
                  <a:schemeClr val="bg1"/>
                </a:solidFill>
                <a:latin typeface="+mj-lt"/>
              </a:rPr>
              <a:t>КЛАССИФИКАЦИИ ТОНАЛЬНОСТЕЙ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 &amp;</a:t>
            </a:r>
            <a:r>
              <a:rPr lang="ru-RU" sz="3200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sz="3200" dirty="0">
                <a:solidFill>
                  <a:srgbClr val="EE3C5F"/>
                </a:solidFill>
                <a:latin typeface="+mj-lt"/>
              </a:rPr>
              <a:t>ДЕМОНСТРАЦИЯ РЕЗУЛЬТАТОВ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AD68EC2-550F-86BE-3BB3-5A2F69EC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61364-D492-4098-9715-3DD32ECBAAD1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8" name="Рисунок 1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76DE9C-3574-02E1-E1A5-AFE2F6B6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1" t="8579" r="33696" b="20206"/>
          <a:stretch>
            <a:fillRect/>
          </a:stretch>
        </p:blipFill>
        <p:spPr>
          <a:xfrm>
            <a:off x="642066" y="1874912"/>
            <a:ext cx="4484968" cy="97045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76D5767-A338-8A1C-FB83-BFB70081D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8400"/>
            <a:ext cx="5485000" cy="35465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26EBBC-D7AB-9965-152C-1241B80C8BFB}"/>
              </a:ext>
            </a:extLst>
          </p:cNvPr>
          <p:cNvSpPr txBox="1"/>
          <p:nvPr/>
        </p:nvSpPr>
        <p:spPr>
          <a:xfrm>
            <a:off x="512402" y="1607021"/>
            <a:ext cx="2230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EE3C5F"/>
                </a:solidFill>
              </a:rPr>
              <a:t>*</a:t>
            </a:r>
            <a:r>
              <a:rPr lang="ru-RU" sz="1100" dirty="0">
                <a:solidFill>
                  <a:srgbClr val="EE3C5F"/>
                </a:solidFill>
              </a:rPr>
              <a:t>пример вывода результатов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3DDD1C-AD2A-85C2-D22E-AEACA8226EB9}"/>
              </a:ext>
            </a:extLst>
          </p:cNvPr>
          <p:cNvSpPr txBox="1"/>
          <p:nvPr/>
        </p:nvSpPr>
        <p:spPr>
          <a:xfrm>
            <a:off x="5445549" y="1861976"/>
            <a:ext cx="62340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chemeClr val="bg1"/>
                </a:solidFill>
              </a:rPr>
              <a:t>Для выявления наиболее эффективной модели были рассмотрены методы </a:t>
            </a:r>
            <a:r>
              <a:rPr lang="en-US" sz="2000" dirty="0">
                <a:solidFill>
                  <a:schemeClr val="bg1"/>
                </a:solidFill>
              </a:rPr>
              <a:t>LR NB SVM</a:t>
            </a:r>
            <a:endParaRPr lang="ru-RU" sz="2000" dirty="0">
              <a:solidFill>
                <a:schemeClr val="bg1"/>
              </a:solidFill>
            </a:endParaRPr>
          </a:p>
          <a:p>
            <a:pPr algn="r"/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Обученная модель получает отзыв на вход и выдает соответствующий ему класс настроения, так и вероятность, с которой отзыв отнесен к этому классу</a:t>
            </a:r>
          </a:p>
          <a:p>
            <a:pPr algn="r"/>
            <a:r>
              <a:rPr lang="ru-RU" sz="2000" dirty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ru-RU" sz="2000" dirty="0">
                <a:solidFill>
                  <a:schemeClr val="bg1"/>
                </a:solidFill>
              </a:rPr>
              <a:t>Сравнительный анализ </a:t>
            </a:r>
            <a:r>
              <a:rPr lang="en-US" sz="2000" dirty="0">
                <a:solidFill>
                  <a:schemeClr val="bg1"/>
                </a:solidFill>
              </a:rPr>
              <a:t>ROC</a:t>
            </a:r>
            <a:r>
              <a:rPr lang="ru-RU" sz="2000" dirty="0">
                <a:solidFill>
                  <a:schemeClr val="bg1"/>
                </a:solidFill>
              </a:rPr>
              <a:t>-кривых показал, что наилучший результат классификации тональностей имеет </a:t>
            </a:r>
            <a:r>
              <a:rPr lang="ru-RU" sz="2000" dirty="0">
                <a:solidFill>
                  <a:srgbClr val="EE3C5F"/>
                </a:solidFill>
              </a:rPr>
              <a:t>модель </a:t>
            </a:r>
            <a:r>
              <a:rPr lang="en-US" sz="2000" dirty="0">
                <a:solidFill>
                  <a:srgbClr val="EE3C5F"/>
                </a:solidFill>
              </a:rPr>
              <a:t>SVM</a:t>
            </a:r>
            <a:endParaRPr lang="ru-RU" sz="2000" dirty="0">
              <a:solidFill>
                <a:srgbClr val="EE3C5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B978AE-EDF6-C974-8091-DC1F8567D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018" y="5628463"/>
            <a:ext cx="62549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Тональность → входной признак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 для анализа разрыва</a:t>
            </a:r>
          </a:p>
        </p:txBody>
      </p:sp>
    </p:spTree>
    <p:extLst>
      <p:ext uri="{BB962C8B-B14F-4D97-AF65-F5344CB8AC3E}">
        <p14:creationId xmlns:p14="http://schemas.microsoft.com/office/powerpoint/2010/main" val="322114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DD45F-2167-AD87-4CE9-4413089E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2909A-2361-81CC-9FE5-D4F802311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9F55FA-6880-479A-99BD-D799395232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F71B6-8795-901F-B5A3-70B3BDA9EB6C}"/>
              </a:ext>
            </a:extLst>
          </p:cNvPr>
          <p:cNvSpPr txBox="1"/>
          <p:nvPr/>
        </p:nvSpPr>
        <p:spPr>
          <a:xfrm>
            <a:off x="2449842" y="414900"/>
            <a:ext cx="7292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АНАЛИЗ КОГНИТИВНОГО РАЗРЫВА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8CEB14-66C8-7470-CAF3-5C6604A8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9D36B-9DE4-AFBB-C865-6C836AE9227C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75CADC-943F-B27C-EE73-EE93E1C8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1"/>
          <a:stretch>
            <a:fillRect/>
          </a:stretch>
        </p:blipFill>
        <p:spPr>
          <a:xfrm>
            <a:off x="220134" y="2293973"/>
            <a:ext cx="5675060" cy="2935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B4C53-A99A-8908-1670-ED9D2C13D4D2}"/>
              </a:ext>
            </a:extLst>
          </p:cNvPr>
          <p:cNvSpPr txBox="1"/>
          <p:nvPr/>
        </p:nvSpPr>
        <p:spPr>
          <a:xfrm>
            <a:off x="2801077" y="2154924"/>
            <a:ext cx="309411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rgbClr val="EE3C5F"/>
                </a:solidFill>
              </a:rPr>
              <a:t>&gt;</a:t>
            </a:r>
            <a:r>
              <a:rPr lang="ru-RU" sz="8800" b="1" dirty="0">
                <a:solidFill>
                  <a:srgbClr val="EE3C5F"/>
                </a:solidFill>
              </a:rPr>
              <a:t>30</a:t>
            </a:r>
            <a:r>
              <a:rPr lang="en-US" sz="8800" b="1" dirty="0">
                <a:solidFill>
                  <a:srgbClr val="EE3C5F"/>
                </a:solidFill>
              </a:rPr>
              <a:t>%</a:t>
            </a:r>
            <a:endParaRPr lang="ru-RU" sz="2000" b="1" dirty="0">
              <a:solidFill>
                <a:srgbClr val="EE3C5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2A63CC-FB45-ACCD-589C-9E58745F46FC}"/>
              </a:ext>
            </a:extLst>
          </p:cNvPr>
          <p:cNvSpPr txBox="1"/>
          <p:nvPr/>
        </p:nvSpPr>
        <p:spPr>
          <a:xfrm>
            <a:off x="3810106" y="3000621"/>
            <a:ext cx="7806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rgbClr val="212121"/>
                </a:solidFill>
              </a:rPr>
              <a:t>разрыв</a:t>
            </a:r>
            <a:endParaRPr lang="ru-RU" sz="3600" dirty="0">
              <a:solidFill>
                <a:srgbClr val="212121"/>
              </a:solidFill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33CB9F4-2FCC-5A78-C48E-55FDE0B1E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584" y="1971224"/>
            <a:ext cx="5365415" cy="1813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Модель </a:t>
            </a:r>
            <a: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выявила</a:t>
            </a:r>
            <a: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отзывы, где текст противоречит оценке. Это не ошибка модели, а </a:t>
            </a:r>
            <a: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признак когнитивного разрыва</a:t>
            </a:r>
            <a:b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br>
              <a:rPr kumimoji="0" lang="ru-RU" altLang="ru-RU" sz="2000" b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BDD267F3-F62F-DFF0-6E23-4B11C7C78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584" y="3516008"/>
            <a:ext cx="7331874" cy="2737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Don't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buy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worst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product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...»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Реальный рейтинг: 4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Предсказанный: 1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Made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me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sad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bad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skin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" 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Реальный рейтинг: 5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Предсказанный: 1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7E42D-672F-6319-3EFC-3399B8913400}"/>
              </a:ext>
            </a:extLst>
          </p:cNvPr>
          <p:cNvSpPr txBox="1"/>
          <p:nvPr/>
        </p:nvSpPr>
        <p:spPr>
          <a:xfrm>
            <a:off x="6360862" y="3516008"/>
            <a:ext cx="2648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EE3C5F"/>
                </a:solidFill>
              </a:rPr>
              <a:t>ПРИМЕРЫ</a:t>
            </a:r>
            <a:r>
              <a:rPr lang="en-US" sz="2000" b="1" dirty="0">
                <a:solidFill>
                  <a:srgbClr val="EE3C5F"/>
                </a:solidFill>
              </a:rPr>
              <a:t> </a:t>
            </a:r>
            <a:r>
              <a:rPr lang="ru-RU" sz="2000" b="1" dirty="0">
                <a:solidFill>
                  <a:srgbClr val="EE3C5F"/>
                </a:solidFill>
              </a:rPr>
              <a:t>РАЗРЫВА</a:t>
            </a:r>
            <a:endParaRPr lang="ru-RU" b="1" dirty="0">
              <a:solidFill>
                <a:srgbClr val="EE3C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41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C7CF3-2127-B809-D26F-93568435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87947-9E3D-6B3F-32E1-F394BE59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FC35B2-AC72-17E3-C58B-1F8D330532A7}"/>
              </a:ext>
            </a:extLst>
          </p:cNvPr>
          <p:cNvSpPr/>
          <p:nvPr/>
        </p:nvSpPr>
        <p:spPr>
          <a:xfrm>
            <a:off x="-59004" y="0"/>
            <a:ext cx="123100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9F66E-7D4D-12C8-E811-08BC9EEED815}"/>
              </a:ext>
            </a:extLst>
          </p:cNvPr>
          <p:cNvSpPr txBox="1"/>
          <p:nvPr/>
        </p:nvSpPr>
        <p:spPr>
          <a:xfrm>
            <a:off x="3518208" y="388599"/>
            <a:ext cx="5155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212121"/>
                </a:solidFill>
                <a:latin typeface="+mj-lt"/>
              </a:rPr>
              <a:t>АНАЛИЗ СООТВЕТСТВИЯ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10B940-D8BC-1A50-4F68-B7D2E47F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2379"/>
            <a:ext cx="65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E9F11-896D-A7D9-1270-E47F975EAA65}"/>
              </a:ext>
            </a:extLst>
          </p:cNvPr>
          <p:cNvSpPr txBox="1"/>
          <p:nvPr/>
        </p:nvSpPr>
        <p:spPr>
          <a:xfrm>
            <a:off x="-3399183" y="8150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9DE8BDA-4B86-B372-92D3-E3A0A028A3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2511"/>
              </p:ext>
            </p:extLst>
          </p:nvPr>
        </p:nvGraphicFramePr>
        <p:xfrm>
          <a:off x="-986533" y="1326665"/>
          <a:ext cx="6455805" cy="3184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D9AE1D-C518-6C82-5021-BE2DA944F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19" y="1276881"/>
            <a:ext cx="3566503" cy="32342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05877A-ADC3-FF7D-26EA-502544237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148" y="1326665"/>
            <a:ext cx="3566502" cy="32251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5750C1-02A7-8333-A81B-4CA35D9F5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1310933"/>
            <a:ext cx="3708398" cy="31038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4438D1-058B-FE9A-D249-A215ADCCDB8D}"/>
              </a:ext>
            </a:extLst>
          </p:cNvPr>
          <p:cNvSpPr txBox="1"/>
          <p:nvPr/>
        </p:nvSpPr>
        <p:spPr>
          <a:xfrm>
            <a:off x="294035" y="4511101"/>
            <a:ext cx="38477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212121"/>
                </a:solidFill>
              </a:rPr>
              <a:t> </a:t>
            </a:r>
            <a:r>
              <a:rPr lang="ru-RU" sz="2000" dirty="0">
                <a:solidFill>
                  <a:srgbClr val="EE3C5F"/>
                </a:solidFill>
              </a:rPr>
              <a:t>каждый 3-й отзыв </a:t>
            </a:r>
            <a:r>
              <a:rPr lang="ru-RU" sz="2000" dirty="0">
                <a:solidFill>
                  <a:srgbClr val="212121"/>
                </a:solidFill>
              </a:rPr>
              <a:t>содержит разрыв подтверждая потребительский феномен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7934F-1BBB-74C1-1312-19D03FC52DDE}"/>
              </a:ext>
            </a:extLst>
          </p:cNvPr>
          <p:cNvSpPr txBox="1"/>
          <p:nvPr/>
        </p:nvSpPr>
        <p:spPr>
          <a:xfrm>
            <a:off x="4241799" y="4524866"/>
            <a:ext cx="370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212121"/>
                </a:solidFill>
              </a:rPr>
              <a:t> «</a:t>
            </a:r>
            <a:r>
              <a:rPr lang="en-US" sz="2000" dirty="0">
                <a:solidFill>
                  <a:srgbClr val="212121"/>
                </a:solidFill>
              </a:rPr>
              <a:t>but</a:t>
            </a:r>
            <a:r>
              <a:rPr lang="ru-RU" sz="2000" dirty="0">
                <a:solidFill>
                  <a:srgbClr val="212121"/>
                </a:solidFill>
              </a:rPr>
              <a:t>» и т.п. </a:t>
            </a:r>
            <a:r>
              <a:rPr lang="ru-RU" sz="2000" dirty="0">
                <a:solidFill>
                  <a:srgbClr val="EE3C5F"/>
                </a:solidFill>
              </a:rPr>
              <a:t>вдовое</a:t>
            </a:r>
            <a:r>
              <a:rPr lang="ru-RU" sz="2000" dirty="0">
                <a:solidFill>
                  <a:srgbClr val="212121"/>
                </a:solidFill>
              </a:rPr>
              <a:t> увеличивает риск разрыва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48460-824B-7797-06AF-45FC02A44943}"/>
              </a:ext>
            </a:extLst>
          </p:cNvPr>
          <p:cNvSpPr txBox="1"/>
          <p:nvPr/>
        </p:nvSpPr>
        <p:spPr>
          <a:xfrm>
            <a:off x="8050220" y="4536634"/>
            <a:ext cx="406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212121"/>
                </a:solidFill>
              </a:rPr>
              <a:t>чем длиннее отзыв, тем выше шанс колебаний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19046B-1FB2-E533-6116-A59548149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7148" y="6220312"/>
            <a:ext cx="70993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02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F5B94-3A16-39F7-A01F-2E6775F6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378BF8-0C58-2185-7D12-1F8FB615EBED}"/>
              </a:ext>
            </a:extLst>
          </p:cNvPr>
          <p:cNvSpPr/>
          <p:nvPr/>
        </p:nvSpPr>
        <p:spPr>
          <a:xfrm>
            <a:off x="-1" y="0"/>
            <a:ext cx="123100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1D0CB-37E5-B808-96CF-F406B2D02067}"/>
              </a:ext>
            </a:extLst>
          </p:cNvPr>
          <p:cNvSpPr txBox="1"/>
          <p:nvPr/>
        </p:nvSpPr>
        <p:spPr>
          <a:xfrm>
            <a:off x="275165" y="1135166"/>
            <a:ext cx="61552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212121"/>
                </a:solidFill>
              </a:rPr>
              <a:t>ПРОВЕДЕННЫЙ АНАЛИЗ </a:t>
            </a:r>
            <a:r>
              <a:rPr lang="en-US" sz="3200" dirty="0">
                <a:solidFill>
                  <a:srgbClr val="212121"/>
                </a:solidFill>
              </a:rPr>
              <a:t>&amp; </a:t>
            </a:r>
            <a:r>
              <a:rPr lang="ru-RU" sz="3200" dirty="0">
                <a:solidFill>
                  <a:srgbClr val="EE3C5F"/>
                </a:solidFill>
              </a:rPr>
              <a:t>РЕЗУЛЬТАТ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06F077-F6FC-51D5-DBEF-95D8227A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32" y="2788156"/>
            <a:ext cx="566570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</a:rPr>
              <a:t>Ручная проверка валидировала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</a:rPr>
              <a:t>алгоритм детекции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</a:rPr>
              <a:t>Модель количественно оценивает вклад каждого признака </a:t>
            </a:r>
            <a:r>
              <a:rPr lang="ru-RU" altLang="ru-RU" sz="2000" dirty="0">
                <a:solidFill>
                  <a:srgbClr val="212121"/>
                </a:solidFill>
              </a:rPr>
              <a:t>в разрыв: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</a:rPr>
              <a:t>противоречия, длина, полярность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solidFill>
                <a:srgbClr val="21212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98341-592B-0AA2-51F3-7704A7528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3" r="32458"/>
          <a:stretch>
            <a:fillRect/>
          </a:stretch>
        </p:blipFill>
        <p:spPr>
          <a:xfrm>
            <a:off x="6383865" y="2527734"/>
            <a:ext cx="5665700" cy="2586929"/>
          </a:xfrm>
          <a:prstGeom prst="rect">
            <a:avLst/>
          </a:prstGeom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27FC90B-73D4-D282-673D-B8045889F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466" y="4976163"/>
            <a:ext cx="115050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quote-cjk-patch"/>
              </a:rPr>
              <a:t>*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quote-cjk-patch"/>
              </a:rPr>
              <a:t>комплексный анализ лингвистических признаков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E3C5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41B826-C19D-95D7-6DB8-F9E1D96D4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526" y="5786276"/>
            <a:ext cx="107276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+mn-lt"/>
              </a:rPr>
              <a:t>MAE = 0.550; выявлено 37.5% отзывов с разрывом; определены ключевые факторы</a:t>
            </a:r>
          </a:p>
        </p:txBody>
      </p:sp>
    </p:spTree>
    <p:extLst>
      <p:ext uri="{BB962C8B-B14F-4D97-AF65-F5344CB8AC3E}">
        <p14:creationId xmlns:p14="http://schemas.microsoft.com/office/powerpoint/2010/main" val="158001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DAC3-F01C-007D-394E-552311774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7D5D8-0150-03DF-4E3B-150BA09C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079FA0-53AB-D770-07E6-E0E23AA6DD0A}"/>
              </a:ext>
            </a:extLst>
          </p:cNvPr>
          <p:cNvSpPr/>
          <p:nvPr/>
        </p:nvSpPr>
        <p:spPr>
          <a:xfrm>
            <a:off x="12873" y="0"/>
            <a:ext cx="1231000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4C883-7045-1537-BBFA-14582121FA8C}"/>
              </a:ext>
            </a:extLst>
          </p:cNvPr>
          <p:cNvSpPr txBox="1"/>
          <p:nvPr/>
        </p:nvSpPr>
        <p:spPr>
          <a:xfrm>
            <a:off x="399561" y="640025"/>
            <a:ext cx="30608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EE3C5F"/>
                </a:solidFill>
              </a:rPr>
              <a:t>ЗАКЛЮЧЕНИЕ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CD74B9-B22E-9294-7682-89302E71C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583" y="2530907"/>
            <a:ext cx="306083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Разработан алгоритм классификации </a:t>
            </a:r>
          </a:p>
          <a:p>
            <a:pPr lvl="0" algn="ctr" defTabSz="914400"/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когнитивного разрыва по силе и направлению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+mn-lt"/>
              </a:rPr>
              <a:t>(</a:t>
            </a:r>
            <a:r>
              <a:rPr lang="ru-RU" altLang="ru-RU" sz="2000" dirty="0">
                <a:solidFill>
                  <a:srgbClr val="EE3C5F"/>
                </a:solidFill>
                <a:latin typeface="+mn-lt"/>
              </a:rPr>
              <a:t>противоречия, длина текста, полярность)</a:t>
            </a:r>
            <a:endParaRPr kumimoji="0" lang="ru-RU" altLang="ru-RU" sz="2000" i="0" u="none" strike="noStrike" cap="none" normalizeH="0" baseline="0" dirty="0">
              <a:ln>
                <a:noFill/>
              </a:ln>
              <a:solidFill>
                <a:srgbClr val="EE3C5F"/>
              </a:solidFill>
              <a:effectLst/>
              <a:latin typeface="+mn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F0DC4F5-7434-7769-D159-458AAEFE5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1238" y="2510689"/>
            <a:ext cx="287133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+mn-lt"/>
              </a:rPr>
              <a:t>Обучили модель для прогнозирования рейтинга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3CA74BD-CDB6-67B1-0DA8-DFEFF7814B73}"/>
              </a:ext>
            </a:extLst>
          </p:cNvPr>
          <p:cNvCxnSpPr>
            <a:cxnSpLocks/>
          </p:cNvCxnSpPr>
          <p:nvPr/>
        </p:nvCxnSpPr>
        <p:spPr>
          <a:xfrm>
            <a:off x="399561" y="1501245"/>
            <a:ext cx="0" cy="5356755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5E03EBD-088A-7654-A77D-80EF33E6B0D7}"/>
              </a:ext>
            </a:extLst>
          </p:cNvPr>
          <p:cNvCxnSpPr>
            <a:cxnSpLocks/>
          </p:cNvCxnSpPr>
          <p:nvPr/>
        </p:nvCxnSpPr>
        <p:spPr>
          <a:xfrm>
            <a:off x="4092578" y="1501245"/>
            <a:ext cx="0" cy="5356755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B83B9D1-96C4-61A4-D27A-2C91009D9AE6}"/>
              </a:ext>
            </a:extLst>
          </p:cNvPr>
          <p:cNvCxnSpPr>
            <a:cxnSpLocks/>
          </p:cNvCxnSpPr>
          <p:nvPr/>
        </p:nvCxnSpPr>
        <p:spPr>
          <a:xfrm>
            <a:off x="8116678" y="1501245"/>
            <a:ext cx="0" cy="5356755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92BF008-3026-0F1A-5D3B-1ECF587CEA5C}"/>
              </a:ext>
            </a:extLst>
          </p:cNvPr>
          <p:cNvCxnSpPr>
            <a:cxnSpLocks/>
          </p:cNvCxnSpPr>
          <p:nvPr/>
        </p:nvCxnSpPr>
        <p:spPr>
          <a:xfrm>
            <a:off x="11932724" y="1501245"/>
            <a:ext cx="0" cy="5356755"/>
          </a:xfrm>
          <a:prstGeom prst="line">
            <a:avLst/>
          </a:prstGeom>
          <a:ln w="25400">
            <a:solidFill>
              <a:srgbClr val="EE3C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6771470-E343-F9D4-C55E-E58BD6184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8856" y="3980503"/>
            <a:ext cx="1876096" cy="170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MAE = 0.550 RMSE = 0.800 R² = 0.439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2B28F4-6776-4B9B-C18C-A2130F01A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68" y="4431149"/>
            <a:ext cx="3429506" cy="7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4264" rIns="0" bIns="11426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EE3C5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F23F34-4017-8194-4875-E881409B96CF}"/>
              </a:ext>
            </a:extLst>
          </p:cNvPr>
          <p:cNvSpPr txBox="1"/>
          <p:nvPr/>
        </p:nvSpPr>
        <p:spPr>
          <a:xfrm>
            <a:off x="8523883" y="3626560"/>
            <a:ext cx="30608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EE3C5F"/>
                </a:solidFill>
              </a:rPr>
              <a:t>РЕЗУЛЬТАТ МЕТРИК МОДЕЛИ: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1FCA22E-76B1-07B2-8C99-A3BDF109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69" y="2866224"/>
            <a:ext cx="4077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Обучили модель классификации тональности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rgbClr val="EE3C5F"/>
                </a:solidFill>
                <a:effectLst/>
                <a:latin typeface="+mn-lt"/>
              </a:rPr>
              <a:t>(SVM, AUC = 0.965)</a:t>
            </a:r>
          </a:p>
        </p:txBody>
      </p:sp>
    </p:spTree>
    <p:extLst>
      <p:ext uri="{BB962C8B-B14F-4D97-AF65-F5344CB8AC3E}">
        <p14:creationId xmlns:p14="http://schemas.microsoft.com/office/powerpoint/2010/main" val="2584468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478</TotalTime>
  <Words>483</Words>
  <Application>Microsoft Macintosh PowerPoint</Application>
  <PresentationFormat>Широкоэкранный</PresentationFormat>
  <Paragraphs>88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quote-cjk-patch</vt:lpstr>
      <vt:lpstr>Wingdings 2</vt:lpstr>
      <vt:lpstr>Цитаты</vt:lpstr>
      <vt:lpstr>ВЫЯВЛЕНИЕ КОГНИТИВНОГО РАЗРЫВА В ОТЗЫВАХ:</vt:lpstr>
      <vt:lpstr> Разработать ml-модель для прогнозирования рейтинга и выявления когнитивного разрыва между текстом отзыва и оценкой </vt:lpstr>
      <vt:lpstr>СБОР ДАННЫХ: РЕЗУЛЬТАТ В ЦИФРАХ</vt:lpstr>
      <vt:lpstr>Презентация PowerPoint</vt:lpstr>
      <vt:lpstr>Ь</vt:lpstr>
      <vt:lpstr>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a16528</dc:creator>
  <cp:lastModifiedBy>a16528</cp:lastModifiedBy>
  <cp:revision>6</cp:revision>
  <dcterms:created xsi:type="dcterms:W3CDTF">2026-09-26T09:24:54Z</dcterms:created>
  <dcterms:modified xsi:type="dcterms:W3CDTF">2026-09-26T17:28:57Z</dcterms:modified>
</cp:coreProperties>
</file>